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Domínio médio por habilidade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Média da rede (%)</c:v>
                </c:pt>
              </c:strCache>
            </c:strRef>
          </c:tx>
          <c:spPr>
            <a:solidFill>
              <a:srgbClr val="218C91"/>
            </a:solidFill>
          </c:spPr>
          <c:cat>
            <c:strRef>
              <c:f>Sheet1!$A$2:$A$9</c:f>
              <c:strCache>
                <c:ptCount val="8"/>
                <c:pt idx="0">
                  <c:v>H 06 (D07)</c:v>
                </c:pt>
                <c:pt idx="1">
                  <c:v>H 05 (D04)</c:v>
                </c:pt>
                <c:pt idx="2">
                  <c:v>H 08 (D08)</c:v>
                </c:pt>
                <c:pt idx="3">
                  <c:v>H 07 (D06)</c:v>
                </c:pt>
                <c:pt idx="4">
                  <c:v>H 04 (D05)</c:v>
                </c:pt>
                <c:pt idx="5">
                  <c:v>H 02 (D01)</c:v>
                </c:pt>
                <c:pt idx="6">
                  <c:v>H 03 (D03)</c:v>
                </c:pt>
                <c:pt idx="7">
                  <c:v>H 01 (D02)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45.55</c:v>
                </c:pt>
                <c:pt idx="1">
                  <c:v>52.48</c:v>
                </c:pt>
                <c:pt idx="2">
                  <c:v>55.04</c:v>
                </c:pt>
                <c:pt idx="3">
                  <c:v>59.0</c:v>
                </c:pt>
                <c:pt idx="4">
                  <c:v>64.54</c:v>
                </c:pt>
                <c:pt idx="5">
                  <c:v>82.17</c:v>
                </c:pt>
                <c:pt idx="6">
                  <c:v>87.55</c:v>
                </c:pt>
                <c:pt idx="7">
                  <c:v>95.48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320040"/>
            <a:ext cx="5029200" cy="7772400"/>
          </a:xfrm>
          <a:prstGeom prst="roundRect">
            <a:avLst/>
          </a:prstGeom>
          <a:solidFill>
            <a:srgbClr val="235C9E"/>
          </a:solidFill>
          <a:ln>
            <a:solidFill>
              <a:srgbClr val="235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4297680"/>
            <a:ext cx="2743200" cy="2011680"/>
          </a:xfrm>
          <a:prstGeom prst="round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6766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DDE5F0"/>
                </a:solidFill>
                <a:latin typeface="Aptos"/>
              </a:rPr>
              <a:t>Secretaria Municipal de Educação de Mendes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6583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AvaliaRJ 2025
Painel Executivo do 2º 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E6ECF4"/>
                </a:solidFill>
                <a:latin typeface="Aptos"/>
              </a:rPr>
              <a:t>Leitura executiva do recorte LP · ENSINO FUNDAMENTAL DE 9 ANOS - 2º ANO · MENDES.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343400"/>
            <a:ext cx="20116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453128"/>
            <a:ext cx="1682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Participação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709160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91,1%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09320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rede avaliada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343400"/>
            <a:ext cx="20116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4453128"/>
            <a:ext cx="1682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Proficiência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4709160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621,35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509320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média ponderada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4343400"/>
            <a:ext cx="201168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4453128"/>
            <a:ext cx="16824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Esperado+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4709160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59,0%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5093208"/>
            <a:ext cx="168249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adequado + avançado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Gerado em 07/04/2026 05:23 a partir de arquivos agregados do AvaliaRJ.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Panorama da Rede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Síntese para abertura da apresentação institucional.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Escolas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unidades com resultado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Turmas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turmas avaliadas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Crítico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41,4%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abaixo do básico + básico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12344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1344168"/>
            <a:ext cx="149961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Esperado+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600200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63040"/>
                </a:solidFill>
                <a:latin typeface="Aptos"/>
              </a:rPr>
              <a:t>59,0%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1984248"/>
            <a:ext cx="149961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63040"/>
                </a:solidFill>
                <a:latin typeface="Aptos"/>
              </a:rPr>
              <a:t>adequado + avançado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60320"/>
            <a:ext cx="38404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43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2D4E"/>
                </a:solidFill>
                <a:latin typeface="Aptos"/>
              </a:rPr>
              <a:t>Distribuição de desempenho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546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1546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19,1%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318211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3182112"/>
            <a:ext cx="296461" cy="109728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6576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6576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22,4%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68503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37360" y="3685032"/>
            <a:ext cx="347814" cy="109728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160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160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60,0%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418795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37360" y="4187952"/>
            <a:ext cx="932688" cy="109728"/>
          </a:xfrm>
          <a:prstGeom prst="rect">
            <a:avLst/>
          </a:prstGeom>
          <a:solidFill>
            <a:srgbClr val="218C91"/>
          </a:solidFill>
          <a:ln>
            <a:solidFill>
              <a:srgbClr val="218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66344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6634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63040"/>
                </a:solidFill>
                <a:latin typeface="Aptos"/>
              </a:rPr>
              <a:t>23,3%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7360" y="4690872"/>
            <a:ext cx="1554480" cy="10972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37360" y="4690872"/>
            <a:ext cx="361832" cy="109728"/>
          </a:xfrm>
          <a:prstGeom prst="rect">
            <a:avLst/>
          </a:prstGeom>
          <a:solidFill>
            <a:srgbClr val="218C91"/>
          </a:solidFill>
          <a:ln>
            <a:solidFill>
              <a:srgbClr val="218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63440" y="256032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27432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Melhor escola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063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35C9E"/>
                </a:solidFill>
                <a:latin typeface="Aptos"/>
              </a:rPr>
              <a:t>E. M. Jayme Siciliano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354787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3040"/>
                </a:solidFill>
                <a:latin typeface="Aptos"/>
              </a:rPr>
              <a:t>Proficiência 624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40690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92040" y="425196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Turma de atenção imediata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5720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BE4D3F"/>
                </a:solidFill>
                <a:latin typeface="Aptos"/>
              </a:rPr>
              <a:t>202 PARCIAL · E. M. Jayme Siciliano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502920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263040"/>
                </a:solidFill>
                <a:latin typeface="Aptos"/>
              </a:rPr>
              <a:t>Proficiência 568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2560320"/>
            <a:ext cx="36576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79" y="274320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Mensagem-chave para a fala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31546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A rede manteve participação de 91,1%.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372160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O resultado médio foi 621,35 de proficiência.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288536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As fragilidades concentram-se em H 06 (D07), H 05 (D04), H 08 (D08).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855464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• Há referência positiva em E. M. Jayme Siciliano e na turma 201 PARCIAL.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Panorama institucional para abertura da reunião com a Secretaria.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7498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Aprendizado por Escola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Leitura inspirada no QEdu: aprendizado adequado, faixas de interpretação, distribuição por níveis e habilidades foco.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71600"/>
            <a:ext cx="3145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E. M. Jayme Siciliano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737360"/>
            <a:ext cx="1417320" cy="320040"/>
          </a:xfrm>
          <a:prstGeom prst="round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01368"/>
            <a:ext cx="1234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Em consolidação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488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Aprendizado adequado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50008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D4E"/>
                </a:solidFill>
                <a:latin typeface="Aptos"/>
              </a:rPr>
              <a:t>60,0%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Proficiência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4048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35C9E"/>
                </a:solidFill>
                <a:latin typeface="Aptos"/>
              </a:rPr>
              <a:t>624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945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Participação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04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3040"/>
                </a:solidFill>
                <a:latin typeface="Aptos"/>
              </a:rPr>
              <a:t>91,0%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862072"/>
            <a:ext cx="777240" cy="109728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2862072"/>
            <a:ext cx="777240" cy="109728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0280" y="2862072"/>
            <a:ext cx="621792" cy="109728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2072" y="2862072"/>
            <a:ext cx="932688" cy="109728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1176" y="2816352"/>
            <a:ext cx="27432" cy="219456"/>
          </a:xfrm>
          <a:prstGeom prst="rect">
            <a:avLst/>
          </a:prstGeom>
          <a:solidFill>
            <a:srgbClr val="142D4E"/>
          </a:solidFill>
          <a:ln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712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2278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Distribuição do aprendizado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" y="3483864"/>
            <a:ext cx="660562" cy="146304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28074" y="3483864"/>
            <a:ext cx="597651" cy="146304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5726" y="3483864"/>
            <a:ext cx="1132392" cy="146304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58119" y="3483864"/>
            <a:ext cx="754928" cy="146304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7512" y="3749040"/>
            <a:ext cx="73152" cy="73152"/>
          </a:xfrm>
          <a:prstGeom prst="ellipse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21,0%</a:t>
            </a:r>
          </a:p>
        </p:txBody>
      </p:sp>
      <p:sp>
        <p:nvSpPr>
          <p:cNvPr id="32" name="Oval 31"/>
          <p:cNvSpPr/>
          <p:nvPr/>
        </p:nvSpPr>
        <p:spPr>
          <a:xfrm>
            <a:off x="1828800" y="3749040"/>
            <a:ext cx="73152" cy="73152"/>
          </a:xfrm>
          <a:prstGeom prst="ellipse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938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938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19,0%</a:t>
            </a:r>
          </a:p>
        </p:txBody>
      </p:sp>
      <p:sp>
        <p:nvSpPr>
          <p:cNvPr id="35" name="Oval 34"/>
          <p:cNvSpPr/>
          <p:nvPr/>
        </p:nvSpPr>
        <p:spPr>
          <a:xfrm>
            <a:off x="2651760" y="3749040"/>
            <a:ext cx="73152" cy="73152"/>
          </a:xfrm>
          <a:prstGeom prst="ellipse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5234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234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36,0%</a:t>
            </a:r>
          </a:p>
        </p:txBody>
      </p:sp>
      <p:sp>
        <p:nvSpPr>
          <p:cNvPr id="38" name="Oval 37"/>
          <p:cNvSpPr/>
          <p:nvPr/>
        </p:nvSpPr>
        <p:spPr>
          <a:xfrm>
            <a:off x="3566160" y="3749040"/>
            <a:ext cx="73152" cy="73152"/>
          </a:xfrm>
          <a:prstGeom prst="ellipse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674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674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24,0%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Prioridades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Forças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06 (D07) 47,0%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05 (D04) 52,0%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01 (D02) 95,0%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03 (D03) 89,0%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0" y="123444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1371600"/>
            <a:ext cx="3145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E. M. Maria Semedo de Andrade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79392" y="1737360"/>
            <a:ext cx="1417320" cy="320040"/>
          </a:xfrm>
          <a:prstGeom prst="round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61688" y="1801368"/>
            <a:ext cx="1234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Em consolidação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79392" y="21488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Aprendizado adequado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9392" y="2350008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D4E"/>
                </a:solidFill>
                <a:latin typeface="Aptos"/>
              </a:rPr>
              <a:t>56,0%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80" y="21945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Proficiência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24048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35C9E"/>
                </a:solidFill>
                <a:latin typeface="Aptos"/>
              </a:rPr>
              <a:t>622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21945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Participação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2404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3040"/>
                </a:solidFill>
                <a:latin typeface="Aptos"/>
              </a:rPr>
              <a:t>90,0%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2862072"/>
            <a:ext cx="777240" cy="109728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74920" y="2862072"/>
            <a:ext cx="777240" cy="109728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52160" y="2862072"/>
            <a:ext cx="621792" cy="109728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73952" y="2862072"/>
            <a:ext cx="932688" cy="109728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38697" y="2816352"/>
            <a:ext cx="27432" cy="219456"/>
          </a:xfrm>
          <a:prstGeom prst="rect">
            <a:avLst/>
          </a:prstGeom>
          <a:solidFill>
            <a:srgbClr val="142D4E"/>
          </a:solidFill>
          <a:ln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452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0176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900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70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33488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392" y="32278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Distribuição do aprendizado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79392" y="3483864"/>
            <a:ext cx="471830" cy="146304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51222" y="3483864"/>
            <a:ext cx="943660" cy="146304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94883" y="3483864"/>
            <a:ext cx="943660" cy="146304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38544" y="3483864"/>
            <a:ext cx="817839" cy="146304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279392" y="3749040"/>
            <a:ext cx="73152" cy="73152"/>
          </a:xfrm>
          <a:prstGeom prst="ellipse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79976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79976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15,0%</a:t>
            </a:r>
          </a:p>
        </p:txBody>
      </p:sp>
      <p:sp>
        <p:nvSpPr>
          <p:cNvPr id="75" name="Oval 74"/>
          <p:cNvSpPr/>
          <p:nvPr/>
        </p:nvSpPr>
        <p:spPr>
          <a:xfrm>
            <a:off x="5440680" y="3749040"/>
            <a:ext cx="73152" cy="73152"/>
          </a:xfrm>
          <a:prstGeom prst="ellipse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4126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4126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30,0%</a:t>
            </a:r>
          </a:p>
        </p:txBody>
      </p:sp>
      <p:sp>
        <p:nvSpPr>
          <p:cNvPr id="78" name="Oval 77"/>
          <p:cNvSpPr/>
          <p:nvPr/>
        </p:nvSpPr>
        <p:spPr>
          <a:xfrm>
            <a:off x="6263640" y="3749040"/>
            <a:ext cx="73152" cy="73152"/>
          </a:xfrm>
          <a:prstGeom prst="ellipse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6422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422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30,0%</a:t>
            </a:r>
          </a:p>
        </p:txBody>
      </p:sp>
      <p:sp>
        <p:nvSpPr>
          <p:cNvPr id="81" name="Oval 80"/>
          <p:cNvSpPr/>
          <p:nvPr/>
        </p:nvSpPr>
        <p:spPr>
          <a:xfrm>
            <a:off x="7178040" y="3749040"/>
            <a:ext cx="73152" cy="73152"/>
          </a:xfrm>
          <a:prstGeom prst="ellipse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78624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78624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26,0%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79392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Prioridades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Forças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79392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06 (D07) 47,0%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79392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05 (D04) 51,0%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35040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01 (D02) 98,0%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5040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02 (D01) 91,0%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726679" y="1234440"/>
            <a:ext cx="347472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91271" y="1371600"/>
            <a:ext cx="3145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E. M. Hilda Braga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91271" y="1737360"/>
            <a:ext cx="1417320" cy="320040"/>
          </a:xfrm>
          <a:prstGeom prst="round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73567" y="1801368"/>
            <a:ext cx="12344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Em consolidação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91271" y="2148840"/>
            <a:ext cx="1371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Aprendizado adequado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91271" y="2350008"/>
            <a:ext cx="1371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42D4E"/>
                </a:solidFill>
                <a:latin typeface="Aptos"/>
              </a:rPr>
              <a:t>60,0%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09759" y="21945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Proficiência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09759" y="240487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35C9E"/>
                </a:solidFill>
                <a:latin typeface="Aptos"/>
              </a:rPr>
              <a:t>615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69879" y="21945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Participação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69879" y="2404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63040"/>
                </a:solidFill>
                <a:latin typeface="Aptos"/>
              </a:rPr>
              <a:t>93,0%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909559" y="2862072"/>
            <a:ext cx="777240" cy="109728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86799" y="2862072"/>
            <a:ext cx="777240" cy="109728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464039" y="2862072"/>
            <a:ext cx="621792" cy="109728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85831" y="2862072"/>
            <a:ext cx="932688" cy="109728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74935" y="2816352"/>
            <a:ext cx="27432" cy="219456"/>
          </a:xfrm>
          <a:prstGeom prst="rect">
            <a:avLst/>
          </a:prstGeom>
          <a:solidFill>
            <a:srgbClr val="142D4E"/>
          </a:solidFill>
          <a:ln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83640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1364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25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9088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50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12679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70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45367" y="2971800"/>
            <a:ext cx="16459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ptos"/>
              </a:rPr>
              <a:t>100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91271" y="322783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Distribuição do aprendizado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891271" y="3483864"/>
            <a:ext cx="597651" cy="146304"/>
          </a:xfrm>
          <a:prstGeom prst="rect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488922" y="3483864"/>
            <a:ext cx="692017" cy="146304"/>
          </a:xfrm>
          <a:prstGeom prst="rect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180940" y="3483864"/>
            <a:ext cx="1289669" cy="146304"/>
          </a:xfrm>
          <a:prstGeom prst="rect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470610" y="3483864"/>
            <a:ext cx="597651" cy="146304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891271" y="3749040"/>
            <a:ext cx="73152" cy="73152"/>
          </a:xfrm>
          <a:prstGeom prst="ellipse">
            <a:avLst/>
          </a:prstGeom>
          <a:solidFill>
            <a:srgbClr val="C95C54"/>
          </a:solidFill>
          <a:ln>
            <a:solidFill>
              <a:srgbClr val="C9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991855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Abaixo do básico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91855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19,0%</a:t>
            </a:r>
          </a:p>
        </p:txBody>
      </p:sp>
      <p:sp>
        <p:nvSpPr>
          <p:cNvPr id="118" name="Oval 117"/>
          <p:cNvSpPr/>
          <p:nvPr/>
        </p:nvSpPr>
        <p:spPr>
          <a:xfrm>
            <a:off x="9052559" y="3749040"/>
            <a:ext cx="73152" cy="73152"/>
          </a:xfrm>
          <a:prstGeom prst="ellipse">
            <a:avLst/>
          </a:prstGeom>
          <a:solidFill>
            <a:srgbClr val="D8894D"/>
          </a:solidFill>
          <a:ln>
            <a:solidFill>
              <a:srgbClr val="D88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153143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Básico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53143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22,0%</a:t>
            </a:r>
          </a:p>
        </p:txBody>
      </p:sp>
      <p:sp>
        <p:nvSpPr>
          <p:cNvPr id="121" name="Oval 120"/>
          <p:cNvSpPr/>
          <p:nvPr/>
        </p:nvSpPr>
        <p:spPr>
          <a:xfrm>
            <a:off x="9875519" y="3749040"/>
            <a:ext cx="73152" cy="73152"/>
          </a:xfrm>
          <a:prstGeom prst="ellipse">
            <a:avLst/>
          </a:prstGeom>
          <a:solidFill>
            <a:srgbClr val="D2B24C"/>
          </a:solidFill>
          <a:ln>
            <a:solidFill>
              <a:srgbClr val="D2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76103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Adequado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76103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41,0%</a:t>
            </a:r>
          </a:p>
        </p:txBody>
      </p:sp>
      <p:sp>
        <p:nvSpPr>
          <p:cNvPr id="124" name="Oval 123"/>
          <p:cNvSpPr/>
          <p:nvPr/>
        </p:nvSpPr>
        <p:spPr>
          <a:xfrm>
            <a:off x="10789919" y="3749040"/>
            <a:ext cx="73152" cy="73152"/>
          </a:xfrm>
          <a:prstGeom prst="ellipse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890503" y="3721608"/>
            <a:ext cx="8686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263040"/>
                </a:solidFill>
                <a:latin typeface="Aptos"/>
              </a:rPr>
              <a:t>Avançado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890503" y="3831336"/>
            <a:ext cx="64008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142D4E"/>
                </a:solidFill>
                <a:latin typeface="Aptos"/>
              </a:rPr>
              <a:t>19,0%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91271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Prioridades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46919" y="3995928"/>
            <a:ext cx="1554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17084"/>
                </a:solidFill>
                <a:latin typeface="Aptos"/>
              </a:rPr>
              <a:t>Forças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91271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06 (D07) 41,0%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91271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E4D3F"/>
                </a:solidFill>
                <a:latin typeface="Aptos"/>
              </a:rPr>
              <a:t>• H 08 (D08) 51,0%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46919" y="4178808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01 (D02) 94,0%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46919" y="4379976"/>
            <a:ext cx="16002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28D56"/>
                </a:solidFill>
                <a:latin typeface="Aptos"/>
              </a:rPr>
              <a:t>• H 03 (D03) 89,0%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Painéis por escola com foco em aprendizado adequado e leitura pedagógica do resultado.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Resultados por Turma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Recorte útil para acompanhamento pedagógico e apoio focalizado.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556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Escola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Prof.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4630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4630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Esperado+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6304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Foco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10789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78308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201 PARCIAL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83080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Jayme Siciliano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78308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783080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88,0%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178308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68,0%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830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304288"/>
            <a:ext cx="107899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35000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35000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200 PARCIAL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350008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Jayme Siciliano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35000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5000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95,0%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35000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67,0%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350008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871216"/>
            <a:ext cx="10789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916936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291693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200 INTEGRAL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916936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Maria Semedo de Andrade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9169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91693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90,0%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916936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56,0%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916936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38144"/>
            <a:ext cx="10789920" cy="53035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8386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348386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 ANO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483864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Hilda Braga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348386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483864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93,0%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348386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60,0%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3483864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06 (D07)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005072"/>
            <a:ext cx="10789920" cy="530352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05079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63040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4050792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202 PARCIAL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4050792"/>
            <a:ext cx="3017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63040"/>
                </a:solidFill>
                <a:latin typeface="Aptos"/>
              </a:rPr>
              <a:t>E. M. Jayme Siciliano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0507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568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405079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88,0%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79" y="4050792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40,0%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4050792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263040"/>
                </a:solidFill>
                <a:latin typeface="Aptos"/>
              </a:rPr>
              <a:t>H 08 (D08)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03920" y="5897880"/>
            <a:ext cx="3154680" cy="502920"/>
          </a:xfrm>
          <a:prstGeom prst="round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41080" y="6016752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42D4E"/>
                </a:solidFill>
                <a:latin typeface="Aptos"/>
              </a:rPr>
              <a:t>Destaque: 201 PARCIAL · 660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Todas as turmas do recorte foram incluídas para leitura de apoio à coordenação pedagógica.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D4E"/>
                </a:solidFill>
                <a:latin typeface="Aptos"/>
              </a:rPr>
              <a:t>Habilidades Prioritárias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96272"/>
                </a:solidFill>
                <a:latin typeface="Aptos"/>
              </a:rPr>
              <a:t>As habilidades Hxx abaixo concentram a principal agenda de recomposição da rede.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32588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23760" y="1325880"/>
            <a:ext cx="4434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0" y="1536192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Prioridades imediatas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202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BE4D3F"/>
                </a:solidFill>
                <a:latin typeface="Aptos"/>
              </a:rPr>
              <a:t>H 06 (D07)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9202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45,5%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3042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BE4D3F"/>
                </a:solidFill>
                <a:latin typeface="Aptos"/>
              </a:rPr>
              <a:t>H 05 (D04)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30428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52,5%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68833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BE4D3F"/>
                </a:solidFill>
                <a:latin typeface="Aptos"/>
              </a:rPr>
              <a:t>H 08 (D08)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68833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55,0%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474720"/>
            <a:ext cx="4434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657600"/>
            <a:ext cx="374903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42D4E"/>
                </a:solidFill>
                <a:latin typeface="Aptos"/>
              </a:rPr>
              <a:t>Forças a preservar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0416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28D56"/>
                </a:solidFill>
                <a:latin typeface="Aptos"/>
              </a:rPr>
              <a:t>H 01 (D02)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404164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95,5%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42569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28D56"/>
                </a:solidFill>
                <a:latin typeface="Aptos"/>
              </a:rPr>
              <a:t>H 03 (D03)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425696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87,5%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80974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528D56"/>
                </a:solidFill>
                <a:latin typeface="Aptos"/>
              </a:rPr>
              <a:t>H 02 (D01)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809744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263040"/>
                </a:solidFill>
                <a:latin typeface="Aptos"/>
              </a:rPr>
              <a:t>82,2%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Leitura de habilidades com legenda documental de captura 2025 quando disponível.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Encaminhamentos para a Secretaria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D6E0EC"/>
                </a:solidFill>
                <a:latin typeface="Aptos"/>
              </a:rPr>
              <a:t>Síntese final orientada à ação pedagógica e de gestão.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58191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Foco imediato de recomposição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98424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Organizar intervenções de leitura e compreensão com foco nas habilidades H 06 (D07), H 05 (D04), H 08 (D08).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58191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Difusão de prática de referência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98424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Sistematizar estratégias da escola E. M. Jayme Siciliano e, em especial, da turma 201 PARCIAL para compartilhar rotinas de sucesso na rede.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749039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91363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Monitoramento intensivo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31596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Acompanhar quinzenalmente a turma 202 PARCIAL da escola E. M. Jayme Siciliano, que concentrou a menor proficiência do recorte.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4754880" cy="1920240"/>
          </a:xfrm>
          <a:prstGeom prst="roundRect">
            <a:avLst/>
          </a:prstGeom>
          <a:solidFill>
            <a:srgbClr val="F6F9FC"/>
          </a:solidFill>
          <a:ln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3913631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42D4E"/>
                </a:solidFill>
                <a:latin typeface="Aptos"/>
              </a:rPr>
              <a:t>Sustentar a presença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315968"/>
            <a:ext cx="4297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63040"/>
                </a:solidFill>
                <a:latin typeface="Aptos"/>
              </a:rPr>
              <a:t>Manter a participação acima de 90% e buscar fechamento do gap remanescente de 8,9% entre previstos e avaliados.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D697A"/>
                </a:solidFill>
                <a:latin typeface="Aptos"/>
              </a:rPr>
              <a:t>Material de apoio à apresentação institucional. Uso pontual, sem integração ao frontend oficial do produto.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