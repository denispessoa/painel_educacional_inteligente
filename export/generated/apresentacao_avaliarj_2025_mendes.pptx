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Domínio médio por habilidade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Média da rede (%)</c:v>
                </c:pt>
              </c:strCache>
            </c:strRef>
          </c:tx>
          <c:spPr>
            <a:solidFill>
              <a:srgbClr val="218C91"/>
            </a:solidFill>
          </c:spPr>
          <c:cat>
            <c:strRef>
              <c:f>Sheet1!$A$2:$A$9</c:f>
              <c:strCache>
                <c:ptCount val="8"/>
                <c:pt idx="0">
                  <c:v>H 06 (D07)</c:v>
                </c:pt>
                <c:pt idx="1">
                  <c:v>H 05 (D04)</c:v>
                </c:pt>
                <c:pt idx="2">
                  <c:v>H 08 (D08)</c:v>
                </c:pt>
                <c:pt idx="3">
                  <c:v>H 07 (D06)</c:v>
                </c:pt>
                <c:pt idx="4">
                  <c:v>H 04 (D05)</c:v>
                </c:pt>
                <c:pt idx="5">
                  <c:v>H 02 (D01)</c:v>
                </c:pt>
                <c:pt idx="6">
                  <c:v>H 03 (D03)</c:v>
                </c:pt>
                <c:pt idx="7">
                  <c:v>H 01 (D02)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45.55</c:v>
                </c:pt>
                <c:pt idx="1">
                  <c:v>52.48</c:v>
                </c:pt>
                <c:pt idx="2">
                  <c:v>55.04</c:v>
                </c:pt>
                <c:pt idx="3">
                  <c:v>59.0</c:v>
                </c:pt>
                <c:pt idx="4">
                  <c:v>64.54</c:v>
                </c:pt>
                <c:pt idx="5">
                  <c:v>82.17</c:v>
                </c:pt>
                <c:pt idx="6">
                  <c:v>87.55</c:v>
                </c:pt>
                <c:pt idx="7">
                  <c:v>95.48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320040"/>
            <a:ext cx="5029200" cy="7772400"/>
          </a:xfrm>
          <a:prstGeom prst="roundRect">
            <a:avLst/>
          </a:prstGeom>
          <a:solidFill>
            <a:srgbClr val="235C9E"/>
          </a:solidFill>
          <a:ln>
            <a:solidFill>
              <a:srgbClr val="23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4297680"/>
            <a:ext cx="2743200" cy="2011680"/>
          </a:xfrm>
          <a:prstGeom prst="round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DDE5F0"/>
                </a:solidFill>
                <a:latin typeface="Aptos"/>
              </a:rPr>
              <a:t>Secretaria Municipal de Educação de Mendes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AvaliaRJ 2025
Painel Executivo do 2º 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E6ECF4"/>
                </a:solidFill>
                <a:latin typeface="Aptos"/>
              </a:rPr>
              <a:t>Leitura executiva do recorte LP · ENSINO FUNDAMENTAL DE 9 ANOS - 2º ANO · MENDES.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343400"/>
            <a:ext cx="20116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453128"/>
            <a:ext cx="1682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Participação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91,1%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09320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rede avaliada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343400"/>
            <a:ext cx="20116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4453128"/>
            <a:ext cx="1682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Proficiência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4709160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621,35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509320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média ponderada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343400"/>
            <a:ext cx="20116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4453128"/>
            <a:ext cx="1682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Esperado+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4709160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59,0%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509320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adequado + avançado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Gerado em 27/03/2026 10:36 a partir de arquivos agregados do AvaliaRJ.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Panorama da Rede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Síntese para abertura da apresentação institucional.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Escolas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unidades com resultado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Turmas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turmas avaliadas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41,4%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abaixo do básico + básico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Esperado+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59,0%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adequado + avançado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60320"/>
            <a:ext cx="3840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ptos"/>
              </a:rPr>
              <a:t>Distribuição de desempenho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154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19,1%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18211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3182112"/>
            <a:ext cx="296461" cy="109728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576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22,4%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68503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37360" y="3685032"/>
            <a:ext cx="347814" cy="109728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60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160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60,0%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418795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37360" y="4187952"/>
            <a:ext cx="932688" cy="109728"/>
          </a:xfrm>
          <a:prstGeom prst="rect">
            <a:avLst/>
          </a:prstGeom>
          <a:solidFill>
            <a:srgbClr val="218C91"/>
          </a:solidFill>
          <a:ln>
            <a:solidFill>
              <a:srgbClr val="218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663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6634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23,3%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469087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37360" y="4690872"/>
            <a:ext cx="361832" cy="109728"/>
          </a:xfrm>
          <a:prstGeom prst="rect">
            <a:avLst/>
          </a:prstGeom>
          <a:solidFill>
            <a:srgbClr val="218C91"/>
          </a:solidFill>
          <a:ln>
            <a:solidFill>
              <a:srgbClr val="218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63440" y="256032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7432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Melhor escola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063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35C9E"/>
                </a:solidFill>
                <a:latin typeface="Aptos"/>
              </a:rPr>
              <a:t>E. M. Jayme Siciliano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354787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3040"/>
                </a:solidFill>
                <a:latin typeface="Aptos"/>
              </a:rPr>
              <a:t>Proficiência 624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40690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42519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Turma de atenção imediata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572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4D3F"/>
                </a:solidFill>
                <a:latin typeface="Aptos"/>
              </a:rPr>
              <a:t>202 PARCIAL · E. M. Jayme Siciliano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0292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3040"/>
                </a:solidFill>
                <a:latin typeface="Aptos"/>
              </a:rPr>
              <a:t>Proficiência 568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256032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274320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Mensagem-chave para a fala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3154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A rede manteve participação de 91,1%.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372160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O resultado médio foi 621,35 de proficiência.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288536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As fragilidades concentram-se em H 06 (D07), H 05 (D04), H 08 (D08).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855464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Há referência positiva em E. M. Jayme Siciliano e na turma 201 PARCIAL.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Panorama institucional para abertura da reunião com a Secretaria.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Aprendizado por Escola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Leitura inspirada no QEdu: aprendizado adequado, faixas de interpretação, distribuição por níveis e habilidades foco.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3145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E. M. Jayme Siciliano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737360"/>
            <a:ext cx="1417320" cy="320040"/>
          </a:xfrm>
          <a:prstGeom prst="round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01368"/>
            <a:ext cx="1234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Em consolidação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48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Aprendizado adequado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50008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60,0%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Proficiência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048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35C9E"/>
                </a:solidFill>
                <a:latin typeface="Aptos"/>
              </a:rPr>
              <a:t>624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94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Participação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04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3040"/>
                </a:solidFill>
                <a:latin typeface="Aptos"/>
              </a:rPr>
              <a:t>91,0%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62072"/>
            <a:ext cx="777240" cy="109728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2862072"/>
            <a:ext cx="777240" cy="109728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0280" y="2862072"/>
            <a:ext cx="621792" cy="109728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2072" y="2862072"/>
            <a:ext cx="932688" cy="109728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1176" y="2816352"/>
            <a:ext cx="27432" cy="219456"/>
          </a:xfrm>
          <a:prstGeom prst="rect">
            <a:avLst/>
          </a:prstGeom>
          <a:solidFill>
            <a:srgbClr val="142D4E"/>
          </a:solidFill>
          <a:ln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2278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Distribuição do aprendizado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" y="3483864"/>
            <a:ext cx="660562" cy="146304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28074" y="3483864"/>
            <a:ext cx="597651" cy="146304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5726" y="3483864"/>
            <a:ext cx="1132392" cy="146304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58119" y="3483864"/>
            <a:ext cx="754928" cy="146304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7512" y="3749040"/>
            <a:ext cx="73152" cy="73152"/>
          </a:xfrm>
          <a:prstGeom prst="ellipse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21,0%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3749040"/>
            <a:ext cx="73152" cy="73152"/>
          </a:xfrm>
          <a:prstGeom prst="ellipse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938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938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19,0%</a:t>
            </a:r>
          </a:p>
        </p:txBody>
      </p:sp>
      <p:sp>
        <p:nvSpPr>
          <p:cNvPr id="35" name="Oval 34"/>
          <p:cNvSpPr/>
          <p:nvPr/>
        </p:nvSpPr>
        <p:spPr>
          <a:xfrm>
            <a:off x="2651760" y="3749040"/>
            <a:ext cx="73152" cy="73152"/>
          </a:xfrm>
          <a:prstGeom prst="ellipse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5234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36,0%</a:t>
            </a:r>
          </a:p>
        </p:txBody>
      </p:sp>
      <p:sp>
        <p:nvSpPr>
          <p:cNvPr id="38" name="Oval 37"/>
          <p:cNvSpPr/>
          <p:nvPr/>
        </p:nvSpPr>
        <p:spPr>
          <a:xfrm>
            <a:off x="3566160" y="3749040"/>
            <a:ext cx="73152" cy="73152"/>
          </a:xfrm>
          <a:prstGeom prst="ellipse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674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674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24,0%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Prioridades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Forças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06 (D07) 47,0%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05 (D04) 52,0%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01 (D02) 95,0%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03 (D03) 89,0%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0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1371600"/>
            <a:ext cx="3145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E. M. Maria Semedo de Andrade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79392" y="1737360"/>
            <a:ext cx="1417320" cy="320040"/>
          </a:xfrm>
          <a:prstGeom prst="round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1801368"/>
            <a:ext cx="1234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Em consolidação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9392" y="2148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Aprendizado adequado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9392" y="2350008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56,0%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80" y="21945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Proficiência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24048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35C9E"/>
                </a:solidFill>
                <a:latin typeface="Aptos"/>
              </a:rPr>
              <a:t>622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2194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Participação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2404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3040"/>
                </a:solidFill>
                <a:latin typeface="Aptos"/>
              </a:rPr>
              <a:t>90,0%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2862072"/>
            <a:ext cx="777240" cy="109728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74920" y="2862072"/>
            <a:ext cx="777240" cy="109728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52160" y="2862072"/>
            <a:ext cx="621792" cy="109728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73952" y="2862072"/>
            <a:ext cx="932688" cy="109728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38697" y="2816352"/>
            <a:ext cx="27432" cy="219456"/>
          </a:xfrm>
          <a:prstGeom prst="rect">
            <a:avLst/>
          </a:prstGeom>
          <a:solidFill>
            <a:srgbClr val="142D4E"/>
          </a:solidFill>
          <a:ln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452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0176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348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392" y="32278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Distribuição do aprendizado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79392" y="3483864"/>
            <a:ext cx="471830" cy="146304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51222" y="3483864"/>
            <a:ext cx="943660" cy="146304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94883" y="3483864"/>
            <a:ext cx="943660" cy="146304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38544" y="3483864"/>
            <a:ext cx="817839" cy="146304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79392" y="3749040"/>
            <a:ext cx="73152" cy="73152"/>
          </a:xfrm>
          <a:prstGeom prst="ellipse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79976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9976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15,0%</a:t>
            </a:r>
          </a:p>
        </p:txBody>
      </p:sp>
      <p:sp>
        <p:nvSpPr>
          <p:cNvPr id="75" name="Oval 74"/>
          <p:cNvSpPr/>
          <p:nvPr/>
        </p:nvSpPr>
        <p:spPr>
          <a:xfrm>
            <a:off x="5440680" y="3749040"/>
            <a:ext cx="73152" cy="73152"/>
          </a:xfrm>
          <a:prstGeom prst="ellipse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4126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4126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30,0%</a:t>
            </a:r>
          </a:p>
        </p:txBody>
      </p:sp>
      <p:sp>
        <p:nvSpPr>
          <p:cNvPr id="78" name="Oval 77"/>
          <p:cNvSpPr/>
          <p:nvPr/>
        </p:nvSpPr>
        <p:spPr>
          <a:xfrm>
            <a:off x="6263640" y="3749040"/>
            <a:ext cx="73152" cy="73152"/>
          </a:xfrm>
          <a:prstGeom prst="ellipse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6422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422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30,0%</a:t>
            </a:r>
          </a:p>
        </p:txBody>
      </p:sp>
      <p:sp>
        <p:nvSpPr>
          <p:cNvPr id="81" name="Oval 80"/>
          <p:cNvSpPr/>
          <p:nvPr/>
        </p:nvSpPr>
        <p:spPr>
          <a:xfrm>
            <a:off x="7178040" y="3749040"/>
            <a:ext cx="73152" cy="73152"/>
          </a:xfrm>
          <a:prstGeom prst="ellipse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7862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7862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26,0%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79392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Prioridades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Forças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79392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06 (D07) 47,0%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79392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05 (D04) 51,0%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35040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01 (D02) 98,0%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5040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02 (D01) 91,0%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726679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91271" y="1371600"/>
            <a:ext cx="3145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E. M. Hilda Braga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91271" y="1737360"/>
            <a:ext cx="1417320" cy="320040"/>
          </a:xfrm>
          <a:prstGeom prst="round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73567" y="1801368"/>
            <a:ext cx="1234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Em consolidação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91271" y="2148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Aprendizado adequado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91271" y="2350008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60,0%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09759" y="21945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Proficiência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09759" y="24048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35C9E"/>
                </a:solidFill>
                <a:latin typeface="Aptos"/>
              </a:rPr>
              <a:t>615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69879" y="2194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Participação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69879" y="2404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3040"/>
                </a:solidFill>
                <a:latin typeface="Aptos"/>
              </a:rPr>
              <a:t>93,0%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09559" y="2862072"/>
            <a:ext cx="777240" cy="109728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86799" y="2862072"/>
            <a:ext cx="777240" cy="109728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464039" y="2862072"/>
            <a:ext cx="621792" cy="109728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85831" y="2862072"/>
            <a:ext cx="932688" cy="109728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74935" y="2816352"/>
            <a:ext cx="27432" cy="219456"/>
          </a:xfrm>
          <a:prstGeom prst="rect">
            <a:avLst/>
          </a:prstGeom>
          <a:solidFill>
            <a:srgbClr val="142D4E"/>
          </a:solidFill>
          <a:ln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3640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1364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9088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79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70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4536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91271" y="32278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Distribuição do aprendizado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891271" y="3483864"/>
            <a:ext cx="597651" cy="146304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488922" y="3483864"/>
            <a:ext cx="692017" cy="146304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180940" y="3483864"/>
            <a:ext cx="1289669" cy="146304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70610" y="3483864"/>
            <a:ext cx="597651" cy="146304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891271" y="3749040"/>
            <a:ext cx="73152" cy="73152"/>
          </a:xfrm>
          <a:prstGeom prst="ellipse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991855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91855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19,0%</a:t>
            </a:r>
          </a:p>
        </p:txBody>
      </p:sp>
      <p:sp>
        <p:nvSpPr>
          <p:cNvPr id="118" name="Oval 117"/>
          <p:cNvSpPr/>
          <p:nvPr/>
        </p:nvSpPr>
        <p:spPr>
          <a:xfrm>
            <a:off x="9052559" y="3749040"/>
            <a:ext cx="73152" cy="73152"/>
          </a:xfrm>
          <a:prstGeom prst="ellipse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53143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53143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22,0%</a:t>
            </a:r>
          </a:p>
        </p:txBody>
      </p:sp>
      <p:sp>
        <p:nvSpPr>
          <p:cNvPr id="121" name="Oval 120"/>
          <p:cNvSpPr/>
          <p:nvPr/>
        </p:nvSpPr>
        <p:spPr>
          <a:xfrm>
            <a:off x="9875519" y="3749040"/>
            <a:ext cx="73152" cy="73152"/>
          </a:xfrm>
          <a:prstGeom prst="ellipse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76103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76103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41,0%</a:t>
            </a:r>
          </a:p>
        </p:txBody>
      </p:sp>
      <p:sp>
        <p:nvSpPr>
          <p:cNvPr id="124" name="Oval 123"/>
          <p:cNvSpPr/>
          <p:nvPr/>
        </p:nvSpPr>
        <p:spPr>
          <a:xfrm>
            <a:off x="10789919" y="3749040"/>
            <a:ext cx="73152" cy="73152"/>
          </a:xfrm>
          <a:prstGeom prst="ellipse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90503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890503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19,0%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91271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Prioridades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46919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Forças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91271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06 (D07) 41,0%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91271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08 (D08) 51,0%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6919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01 (D02) 94,0%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46919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03 (D03) 89,0%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Painéis por escola com foco em aprendizado adequado e leitura pedagógica do resultado.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Resultados por Turma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Recorte útil para acompanhamento pedagógico e apoio focalizado.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Escola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Prof.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4630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Esperado+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6304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Foco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10789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78308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201 PARCIAL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83080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Jayme Siciliano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78308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88,0%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78308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68,0%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830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04288"/>
            <a:ext cx="107899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35000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35000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200 PARCIAL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35000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Jayme Siciliano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35000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5000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95,0%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3500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67,0%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35000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871216"/>
            <a:ext cx="10789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9169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29169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200 INTEGRAL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916936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Maria Semedo de Andrade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9169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9169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90,0%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916936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56,0%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91693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38144"/>
            <a:ext cx="107899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838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348386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 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483864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Hilda Braga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48386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48386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93,0%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348386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60,0%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483864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005072"/>
            <a:ext cx="10789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05079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405079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202 PARCIAL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050792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Jayme Siciliano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0507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568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0507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88,0%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405079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40,0%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0507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08 (D08)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5897880"/>
            <a:ext cx="3154680" cy="502920"/>
          </a:xfrm>
          <a:prstGeom prst="round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601675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Destaque: 201 PARCIAL · 660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Todas as turmas do recorte foram incluídas para leitura de apoio à coordenação pedagógica.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Habilidades Prioritárias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As habilidades Hxx abaixo concentram a principal agenda de recomposição da rede.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23760" y="1325880"/>
            <a:ext cx="4434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1536192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Prioridades imediatas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20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BE4D3F"/>
                </a:solidFill>
                <a:latin typeface="Aptos"/>
              </a:rPr>
              <a:t>H 06 (D07)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9202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45,5%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3042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BE4D3F"/>
                </a:solidFill>
                <a:latin typeface="Aptos"/>
              </a:rPr>
              <a:t>H 05 (D04)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30428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52,5%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688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BE4D3F"/>
                </a:solidFill>
                <a:latin typeface="Aptos"/>
              </a:rPr>
              <a:t>H 08 (D08)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68833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55,0%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474720"/>
            <a:ext cx="4434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65760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Forças a preservar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0416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28D56"/>
                </a:solidFill>
                <a:latin typeface="Aptos"/>
              </a:rPr>
              <a:t>H 01 (D02)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404164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95,5%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4256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28D56"/>
                </a:solidFill>
                <a:latin typeface="Aptos"/>
              </a:rPr>
              <a:t>H 03 (D03)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42569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87,5%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80974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28D56"/>
                </a:solidFill>
                <a:latin typeface="Aptos"/>
              </a:rPr>
              <a:t>H 02 (D01)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80974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82,2%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Leitura de habilidades com legenda documental de captura 2025 quando disponível.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Encaminhamentos para a Secretaria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6E0EC"/>
                </a:solidFill>
                <a:latin typeface="Aptos"/>
              </a:rPr>
              <a:t>Síntese final orientada à ação pedagógica e de gestão.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819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Foco imediato de recomposição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8424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Organizar intervenções de leitura e compreensão com foco nas habilidades H 06 (D07), H 05 (D04), H 08 (D08).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5819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Difusão de prática de referência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98424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Sistematizar estratégias da escola E. M. Jayme Siciliano e, em especial, da turma 201 PARCIAL para compartilhar rotinas de sucesso na rede.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49039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91363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Monitoramento intensivo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31596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Acompanhar quinzenalmente a turma 202 PARCIAL da escola E. M. Jayme Siciliano, que concentrou a menor proficiência do recorte.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91363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Sustentar a presença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31596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Manter a participação acima de 90% e buscar fechamento do gap remanescente de 8,9% entre previstos e avaliados.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Material de apoio à apresentação institucional. Uso pontual, sem integração ao frontend oficial do produto.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